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73" r:id="rId6"/>
    <p:sldId id="282" r:id="rId7"/>
    <p:sldId id="271" r:id="rId8"/>
    <p:sldId id="283" r:id="rId9"/>
    <p:sldId id="284" r:id="rId10"/>
    <p:sldId id="285" r:id="rId11"/>
    <p:sldId id="286" r:id="rId12"/>
    <p:sldId id="287" r:id="rId13"/>
    <p:sldId id="288" r:id="rId14"/>
    <p:sldId id="290" r:id="rId15"/>
    <p:sldId id="292" r:id="rId16"/>
    <p:sldId id="289" r:id="rId17"/>
    <p:sldId id="291" r:id="rId18"/>
    <p:sldId id="293" r:id="rId19"/>
    <p:sldId id="28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91" autoAdjust="0"/>
    <p:restoredTop sz="76914" autoAdjust="0"/>
  </p:normalViewPr>
  <p:slideViewPr>
    <p:cSldViewPr snapToGrid="0">
      <p:cViewPr varScale="1">
        <p:scale>
          <a:sx n="100" d="100"/>
          <a:sy n="100" d="100"/>
        </p:scale>
        <p:origin x="7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32563E-F283-4207-8CB9-DA8B78F5B87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034961-A37C-480F-B0EE-634C1E81D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389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34961-A37C-480F-B0EE-634C1E81DB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834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34961-A37C-480F-B0EE-634C1E81DB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6386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34961-A37C-480F-B0EE-634C1E81DBA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4963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34961-A37C-480F-B0EE-634C1E81DBA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474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34961-A37C-480F-B0EE-634C1E81DBA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950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DC168-60E5-5175-C721-C36558386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D25E19-035E-E003-7B7C-842324CC13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5BC369-FBDC-6753-9C55-20F13D6259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F0832-FA0C-64B6-3A54-D3AFC3F93A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34961-A37C-480F-B0EE-634C1E81DBA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441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34961-A37C-480F-B0EE-634C1E81DBA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6666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1708D-2583-057F-CF32-56A9CC9A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BFE57E-002C-E982-2306-2E443BCEA0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947ABC-A6AE-5F16-A463-E6830CE975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57F24-1A25-DB15-6C78-B5F602C29E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34961-A37C-480F-B0EE-634C1E81DBA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1671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057AC-CBE6-4453-2A6F-75067EC27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84BFA5-72C3-C9DC-F094-D6299C322C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C0700D-B29F-E385-B850-7E75363A79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A6F46-3D6F-B0AF-0995-2BF0364444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34961-A37C-480F-B0EE-634C1E81DBA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3550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EBEFE-DD97-7031-9299-F91569273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1E99BE-859B-79FF-67D3-FC3735FAA9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F24E1E-5996-B965-8C9E-95CAD2B989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0A86F-C4AA-DD13-F446-82B3C24C9A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34961-A37C-480F-B0EE-634C1E81DBA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7296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DA498-9899-354F-2D60-9C44AA090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B7F05C-9151-5156-0927-679AF05B17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524AB3-894B-1C71-9B4B-215CF65009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B8E0F8-EA11-1B76-56E3-AFFAEEC75A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34961-A37C-480F-B0EE-634C1E81DBA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2475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CAD2F-F48D-0C84-1824-5B4D81A9C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3FBA67-C175-2CBC-FA1D-726BC52BD9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C77AEF-A0A1-E404-3112-A485C710BF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47BA65-0296-8232-6380-D7E445697C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34961-A37C-480F-B0EE-634C1E81DBA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1012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D24F8-8560-BC9D-976D-EBB178415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911308-F89B-B2C2-6E03-73848DF835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A869B4-D2AE-C987-C7D0-78C8FDB19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4F44C-D43C-0D36-EC73-D605ED79C6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34961-A37C-480F-B0EE-634C1E81DBA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3304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DFCD3-39BC-D598-34C5-D1FE93436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999A15-BDF3-CCFA-6EDE-2FFB355321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1D7AAD-7182-45FD-8006-BE7534E801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A5226-0994-BEB5-F24E-0E247C4E03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34961-A37C-480F-B0EE-634C1E81DBA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123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E5B65-29B6-AC89-852C-BDAEF7E7D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722FDA-3BC7-3EDA-1055-329FD5DB74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E8C739-9413-08AC-B85D-FDD6816606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284918-A9C7-F8BD-FDB2-E61E156C3C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34961-A37C-480F-B0EE-634C1E81DBA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4799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7E24D-784D-6C92-DECB-E87431990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20C464-797F-18CB-001F-74BCC6D368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85FFA1-8E93-E064-DFCE-6220E09250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C5AF8-55A5-8013-CCC7-52C82B0163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34961-A37C-480F-B0EE-634C1E81DBA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5011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207C6-784D-D3F9-6C6B-8AB877270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01B6C3-CF5D-869E-92AB-CA1B652186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E1E474-FC0A-E334-6EA1-EAFAF086E8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971379-0674-A3A4-1C1D-A27AFE51B3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34961-A37C-480F-B0EE-634C1E81DBA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983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009FB-E3F1-3B49-89FA-6B5EF8F57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C38912-D9DC-95E1-1E62-F33B1673B7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5873AE-EAED-638F-F141-F57C8E56A4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43D465-57EF-533F-6DDC-B7D3B6492F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34961-A37C-480F-B0EE-634C1E81DBA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9339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34961-A37C-480F-B0EE-634C1E81DBA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021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8B8A2-2041-9B25-EB36-DF83382F1D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07502C-C2A2-0343-35CD-BDC9AB4C90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C6FA2-AC2D-1C92-75E9-9F4C57EB8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81EF5-F2DD-46B0-ADF9-01E4BAAC5C9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739D6-E8AB-5E6C-E42E-4FD64EA56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11645-5DDE-CE18-BB61-5774CC934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92111-6E7E-4B28-9719-C586425B6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909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4D3A-76D5-4DC6-0AF8-B174DBC6C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E670A-3AE1-D7E7-6FE6-0E4BF9AF7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A3DAA-E52C-02F4-433E-BDA415132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81EF5-F2DD-46B0-ADF9-01E4BAAC5C9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24DD5-D08C-9776-0F3D-DE843B89E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A5487-2BE3-AA53-3DE1-5EEAB7DEB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92111-6E7E-4B28-9719-C586425B6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027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298B7-CF07-9118-BE6B-CF6FB8601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3A2727-7599-AC3B-6A13-9434C363A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58A24-3C24-34E7-4489-1A5FD14B1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81EF5-F2DD-46B0-ADF9-01E4BAAC5C9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DC8D5-0B23-6F61-198B-B614FA070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00F46-A3CD-8A61-9424-977998827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92111-6E7E-4B28-9719-C586425B6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928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C9FAB-9135-7DE2-227A-450D98026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9CDA6-E4DA-F249-A172-AB06EC9C02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966317-EE7E-D8A6-8638-AB497FDB7B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B68E81-1094-69EB-2055-5780DE7A8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81EF5-F2DD-46B0-ADF9-01E4BAAC5C9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3CD6CF-F494-BE02-EB8F-83385B040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0143BD-CEB5-4C59-F8CB-993A51259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92111-6E7E-4B28-9719-C586425B6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797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F96C3-1043-5496-06B7-606DB4DB4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E0EE2C-7800-AF4F-38AF-6DC207D5E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BE8551-EFD0-FD6D-3DD7-E443381C58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22A8D4-DED9-7902-B2B1-027AF2E76B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B18C74-9F8F-5AC3-90E6-BDBEF0B715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BD62F6-6FAD-17D6-3E6F-886DAD6C9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81EF5-F2DD-46B0-ADF9-01E4BAAC5C9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93E578-53CE-F16B-B93C-8B51CD768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08F7D1-7FA1-D806-4AF7-9D7012165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92111-6E7E-4B28-9719-C586425B6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036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DDEF8-EA58-AEE0-7498-16BB7479D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0C3786-3E9B-2462-18A8-66BC2927B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81EF5-F2DD-46B0-ADF9-01E4BAAC5C9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9AD383-1D02-CB89-698A-7212DB73E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CAF8CE-EDDC-53F7-FADD-6DC9B3EDA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92111-6E7E-4B28-9719-C586425B6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060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7DB38A-47C1-5CF6-8B08-0934DAA95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81EF5-F2DD-46B0-ADF9-01E4BAAC5C9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04213C-63DB-1444-3573-4A8897121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8E4296-10F4-5968-55D6-89603B13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92111-6E7E-4B28-9719-C586425B6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652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DDED3-B47F-B426-C882-0F6DCB6D9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584F1-943F-1DBE-BEB2-B2C82DD7C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9437D4-37FA-392D-0170-F6722D1775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97B5D3-30A3-EC57-5EE9-AF37685AA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81EF5-F2DD-46B0-ADF9-01E4BAAC5C9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7C113-A761-5082-2AB5-3EAE350C8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213586-DB27-A34C-2FB1-866F81ABF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92111-6E7E-4B28-9719-C586425B6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466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730A1-43CC-F295-959F-7FBCCAA77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131809-71B6-35CF-C64F-AD79BF3A71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7C6C21-00D9-31A6-2EEB-B9838B1A5B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3D41EE-B013-4795-BD6D-3E7131655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81EF5-F2DD-46B0-ADF9-01E4BAAC5C9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884A3F-FBFC-5789-B6F2-886E87667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EF3CB0-9E00-1E4F-74B3-CD4E1322F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92111-6E7E-4B28-9719-C586425B6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222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2A17A-40D6-28AA-957B-D9F7AB182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FE000D-AEE1-C2F9-9FB7-5772AB8D52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4BDF7-994D-A85C-1E14-F8BD535B6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81EF5-F2DD-46B0-ADF9-01E4BAAC5C9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1EC22-1497-875F-91E9-5A84CB4ED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48B81-D234-02FF-F600-EE3ACC582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92111-6E7E-4B28-9719-C586425B6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15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3E5393-4640-479E-D825-F338B52026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AC9C52-73D3-BA00-FB8C-8129863913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1FB13-31C5-8125-0DC5-E170AEFC5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81EF5-F2DD-46B0-ADF9-01E4BAAC5C9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34F5C-2BC6-5F66-9725-E66FC997E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58D35-F634-3938-EDB7-BD8F4E11C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92111-6E7E-4B28-9719-C586425B6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214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79857E-04F5-465F-57AA-E8A0F8223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A3D259-DE43-B652-F951-15538C4FB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93722-E7E4-94F7-A81E-138EB7ED5D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B81EF5-F2DD-46B0-ADF9-01E4BAAC5C9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3CDA9-DF6A-9F67-36AC-29943B5ED2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4E3D1-B2B8-562E-FFDD-B0E0DBFF4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092111-6E7E-4B28-9719-C586425B6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146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cosentino/needlr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be.com/@devleader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hyperlink" Target="https://dometrain.com/author/nick-cosentino/?affcode=1115529_nl-teyz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151B7-346E-9608-B028-838FE85CFC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6FA965-960F-595A-5C68-88EE92CD60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Video 3" descr="Night Time Laps Of A Building">
            <a:extLst>
              <a:ext uri="{FF2B5EF4-FFF2-40B4-BE49-F238E27FC236}">
                <a16:creationId xmlns:a16="http://schemas.microsoft.com/office/drawing/2014/main" id="{C2E990C7-E617-06FC-C8E0-232DBAAF32D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t="284" r="-1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DA0BBF5-ED10-FD90-CDC8-D0AF8F12C2C3}"/>
              </a:ext>
            </a:extLst>
          </p:cNvPr>
          <p:cNvSpPr/>
          <p:nvPr/>
        </p:nvSpPr>
        <p:spPr>
          <a:xfrm>
            <a:off x="6858000" y="2316163"/>
            <a:ext cx="4686300" cy="62775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CCAF3A-2633-CDA1-4E2A-DFC6F6C61117}"/>
              </a:ext>
            </a:extLst>
          </p:cNvPr>
          <p:cNvSpPr/>
          <p:nvPr/>
        </p:nvSpPr>
        <p:spPr>
          <a:xfrm>
            <a:off x="6515100" y="3096322"/>
            <a:ext cx="5029200" cy="62775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DC60FA-0F8A-F0B5-6BE8-334C7A2A3BB8}"/>
              </a:ext>
            </a:extLst>
          </p:cNvPr>
          <p:cNvSpPr/>
          <p:nvPr/>
        </p:nvSpPr>
        <p:spPr>
          <a:xfrm>
            <a:off x="9177454" y="3949101"/>
            <a:ext cx="2366846" cy="62775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7BFCA8E-51D3-07DB-D441-11D5180625FB}"/>
              </a:ext>
            </a:extLst>
          </p:cNvPr>
          <p:cNvSpPr txBox="1">
            <a:spLocks/>
          </p:cNvSpPr>
          <p:nvPr/>
        </p:nvSpPr>
        <p:spPr>
          <a:xfrm>
            <a:off x="4382429" y="267629"/>
            <a:ext cx="7161871" cy="44948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Building Plugin Architectures in </a:t>
            </a:r>
            <a:r>
              <a:rPr lang="en-US" dirty="0" err="1">
                <a:solidFill>
                  <a:schemeClr val="bg1"/>
                </a:solidFill>
              </a:rPr>
              <a:t>DotNet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3471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93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0"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91FD8-7CBC-8848-F817-913B35F1F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4BA99-9216-60FA-0AED-2EFF5D9F1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975" y="1825625"/>
            <a:ext cx="10791825" cy="4351338"/>
          </a:xfrm>
        </p:spPr>
        <p:txBody>
          <a:bodyPr/>
          <a:lstStyle/>
          <a:p>
            <a:r>
              <a:rPr lang="en-US" dirty="0"/>
              <a:t>Who I am and what I do</a:t>
            </a:r>
          </a:p>
          <a:p>
            <a:r>
              <a:rPr lang="en-US" dirty="0"/>
              <a:t>Pillars of Plugin Architecture</a:t>
            </a:r>
          </a:p>
          <a:p>
            <a:r>
              <a:rPr lang="en-US" dirty="0"/>
              <a:t>Components &amp; Structure</a:t>
            </a:r>
          </a:p>
          <a:p>
            <a:r>
              <a:rPr lang="en-US" dirty="0"/>
              <a:t>Scanning &amp; Registration</a:t>
            </a:r>
          </a:p>
          <a:p>
            <a:r>
              <a:rPr lang="en-US" dirty="0"/>
              <a:t>Kernel Plugins</a:t>
            </a:r>
          </a:p>
          <a:p>
            <a:r>
              <a:rPr lang="en-US" dirty="0"/>
              <a:t>Feature Plugins</a:t>
            </a:r>
          </a:p>
          <a:p>
            <a:r>
              <a:rPr lang="en-US" dirty="0"/>
              <a:t>… and more! (we won’t have time)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417FFA-6CD9-D7A1-6DC3-00F37EDD1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9640" y="378460"/>
            <a:ext cx="6101080" cy="6101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230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Space Needle - Wikipedia">
            <a:extLst>
              <a:ext uri="{FF2B5EF4-FFF2-40B4-BE49-F238E27FC236}">
                <a16:creationId xmlns:a16="http://schemas.microsoft.com/office/drawing/2014/main" id="{88BD61E6-6123-9540-5968-C8CC5B4E97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0739" y="0"/>
            <a:ext cx="3071530" cy="605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11646B-565A-AD00-FDEC-A5C85317A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Hi, I’m Nick Cosentino!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7647AB-06A1-4ACA-D0FD-4F8D1AFDB7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9654" y="1310202"/>
            <a:ext cx="4510444" cy="55237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17708F-6F9D-5F46-6C88-ED82356CC3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324270"/>
            <a:ext cx="5691009" cy="5032375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682BFA8-F1EE-7A3B-A9A4-AB98E95B4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300" y="5723013"/>
            <a:ext cx="3533775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A2F33E51-E58A-EE0E-7810-3FE1EBA6C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10953"/>
            <a:ext cx="39243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68A669BC-58CE-FE82-3A3B-49D1D46181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5880" y="5147994"/>
            <a:ext cx="2705100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E34AF7D-6872-0ACA-573E-997DF98541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4941" y="2443163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7963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13727-EA1A-DB5C-9D41-AB363DC1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Pillars of Plugin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A3DF7-0C05-D89F-3834-3BD57CA84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These are *my* focal points for plugin architecture</a:t>
            </a:r>
          </a:p>
          <a:p>
            <a:pPr marL="0" indent="0">
              <a:buNone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Modularity / Isolation</a:t>
            </a:r>
          </a:p>
          <a:p>
            <a:pPr>
              <a:buFontTx/>
              <a:buChar char="-"/>
            </a:pPr>
            <a:r>
              <a:rPr lang="en-US" dirty="0"/>
              <a:t>Extensibility / Flexibility</a:t>
            </a:r>
          </a:p>
          <a:p>
            <a:pPr>
              <a:buFontTx/>
              <a:buChar char="-"/>
            </a:pPr>
            <a:r>
              <a:rPr lang="en-US" dirty="0"/>
              <a:t>Reusability</a:t>
            </a:r>
          </a:p>
          <a:p>
            <a:pPr>
              <a:buFontTx/>
              <a:buChar char="-"/>
            </a:pPr>
            <a:r>
              <a:rPr lang="en-US" dirty="0"/>
              <a:t>Testability</a:t>
            </a:r>
          </a:p>
        </p:txBody>
      </p:sp>
    </p:spTree>
    <p:extLst>
      <p:ext uri="{BB962C8B-B14F-4D97-AF65-F5344CB8AC3E}">
        <p14:creationId xmlns:p14="http://schemas.microsoft.com/office/powerpoint/2010/main" val="489974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526184-C025-353F-DDF1-50D2BBD6B9A4}"/>
              </a:ext>
            </a:extLst>
          </p:cNvPr>
          <p:cNvSpPr/>
          <p:nvPr/>
        </p:nvSpPr>
        <p:spPr>
          <a:xfrm>
            <a:off x="134443" y="1158947"/>
            <a:ext cx="4402716" cy="27643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E8AC45-E135-0F81-E4A8-9141EEF2BEDD}"/>
              </a:ext>
            </a:extLst>
          </p:cNvPr>
          <p:cNvSpPr/>
          <p:nvPr/>
        </p:nvSpPr>
        <p:spPr>
          <a:xfrm>
            <a:off x="229455" y="2363719"/>
            <a:ext cx="1014077" cy="55429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Kernel</a:t>
            </a:r>
          </a:p>
          <a:p>
            <a:pPr algn="ctr"/>
            <a:r>
              <a:rPr lang="en-US" dirty="0"/>
              <a:t>Plugin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E30F84-4E1E-C4F9-01BA-2A0FA360C6E9}"/>
              </a:ext>
            </a:extLst>
          </p:cNvPr>
          <p:cNvSpPr/>
          <p:nvPr/>
        </p:nvSpPr>
        <p:spPr>
          <a:xfrm>
            <a:off x="229455" y="1218450"/>
            <a:ext cx="4220042" cy="30587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Entry Point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B37A6B0-148F-76A9-8CC5-CDDC3DB8092C}"/>
              </a:ext>
            </a:extLst>
          </p:cNvPr>
          <p:cNvSpPr txBox="1"/>
          <p:nvPr/>
        </p:nvSpPr>
        <p:spPr>
          <a:xfrm>
            <a:off x="0" y="4173240"/>
            <a:ext cx="453715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Entry Point: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Console, WPF, ASP.NET Core,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Thin, lightweight, config &amp; go!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Business Logic: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Freedom for mixing in other architectural patterns here!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SDK: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interface your plugins meet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How they call and are called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7D97BF-2E81-86CD-8064-6B67E9EC996F}"/>
              </a:ext>
            </a:extLst>
          </p:cNvPr>
          <p:cNvSpPr/>
          <p:nvPr/>
        </p:nvSpPr>
        <p:spPr>
          <a:xfrm>
            <a:off x="229455" y="1559307"/>
            <a:ext cx="4220042" cy="75623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Business Logic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B650EB-859A-DB98-0F5F-2FF7A47727F3}"/>
              </a:ext>
            </a:extLst>
          </p:cNvPr>
          <p:cNvSpPr/>
          <p:nvPr/>
        </p:nvSpPr>
        <p:spPr>
          <a:xfrm>
            <a:off x="2343149" y="2365759"/>
            <a:ext cx="2100718" cy="30282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SDK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C4D623-CB89-6C02-5DB1-BC7C07167A36}"/>
              </a:ext>
            </a:extLst>
          </p:cNvPr>
          <p:cNvSpPr/>
          <p:nvPr/>
        </p:nvSpPr>
        <p:spPr>
          <a:xfrm>
            <a:off x="229455" y="2958078"/>
            <a:ext cx="1014077" cy="55429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Kernel</a:t>
            </a:r>
          </a:p>
          <a:p>
            <a:pPr algn="ctr"/>
            <a:r>
              <a:rPr lang="en-US" dirty="0"/>
              <a:t>Plugin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A3E99C-4DD9-D673-715C-F88721056289}"/>
              </a:ext>
            </a:extLst>
          </p:cNvPr>
          <p:cNvSpPr/>
          <p:nvPr/>
        </p:nvSpPr>
        <p:spPr>
          <a:xfrm>
            <a:off x="1296462" y="2363719"/>
            <a:ext cx="1014077" cy="55429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Kernel</a:t>
            </a:r>
          </a:p>
          <a:p>
            <a:pPr algn="ctr"/>
            <a:r>
              <a:rPr lang="en-US" dirty="0"/>
              <a:t>Plugin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7D8543-15BF-6751-0449-31AA7DFBD1AF}"/>
              </a:ext>
            </a:extLst>
          </p:cNvPr>
          <p:cNvSpPr/>
          <p:nvPr/>
        </p:nvSpPr>
        <p:spPr>
          <a:xfrm>
            <a:off x="1296461" y="2956038"/>
            <a:ext cx="1014077" cy="55429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Kernel</a:t>
            </a:r>
          </a:p>
          <a:p>
            <a:pPr algn="ctr"/>
            <a:r>
              <a:rPr lang="en-US" dirty="0"/>
              <a:t>Plugin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5A5780-DB3E-9408-8429-10F10C227D35}"/>
              </a:ext>
            </a:extLst>
          </p:cNvPr>
          <p:cNvSpPr/>
          <p:nvPr/>
        </p:nvSpPr>
        <p:spPr>
          <a:xfrm>
            <a:off x="2343149" y="2718800"/>
            <a:ext cx="1014077" cy="55429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</a:t>
            </a:r>
          </a:p>
          <a:p>
            <a:pPr algn="ctr"/>
            <a:r>
              <a:rPr lang="en-US" dirty="0"/>
              <a:t>Plugin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3C7ECB-E08B-9C13-5116-61450B64440E}"/>
              </a:ext>
            </a:extLst>
          </p:cNvPr>
          <p:cNvSpPr/>
          <p:nvPr/>
        </p:nvSpPr>
        <p:spPr>
          <a:xfrm>
            <a:off x="3429790" y="2718800"/>
            <a:ext cx="1014077" cy="55429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</a:t>
            </a:r>
          </a:p>
          <a:p>
            <a:pPr algn="ctr"/>
            <a:r>
              <a:rPr lang="en-US" dirty="0"/>
              <a:t>Plugin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1B15CA-DE2B-FCBC-8C60-C803A76ED297}"/>
              </a:ext>
            </a:extLst>
          </p:cNvPr>
          <p:cNvSpPr/>
          <p:nvPr/>
        </p:nvSpPr>
        <p:spPr>
          <a:xfrm>
            <a:off x="2343149" y="3321069"/>
            <a:ext cx="1014077" cy="554298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</a:t>
            </a:r>
          </a:p>
          <a:p>
            <a:pPr algn="ctr"/>
            <a:r>
              <a:rPr lang="en-US" dirty="0"/>
              <a:t>Plugin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7F2EF39-B821-26C2-A5F9-4FF390848624}"/>
              </a:ext>
            </a:extLst>
          </p:cNvPr>
          <p:cNvSpPr/>
          <p:nvPr/>
        </p:nvSpPr>
        <p:spPr>
          <a:xfrm>
            <a:off x="3423266" y="3321069"/>
            <a:ext cx="1014077" cy="554298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</a:t>
            </a:r>
          </a:p>
          <a:p>
            <a:pPr algn="ctr"/>
            <a:r>
              <a:rPr lang="en-US" dirty="0"/>
              <a:t>Plugin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6A57749-900D-E445-85C9-80F283489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732"/>
            <a:ext cx="10515600" cy="1325563"/>
          </a:xfrm>
        </p:spPr>
        <p:txBody>
          <a:bodyPr/>
          <a:lstStyle/>
          <a:p>
            <a:r>
              <a:rPr lang="en-US" dirty="0"/>
              <a:t>Components &amp; Structure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BBB544-7581-6DB2-1B72-136FCB1FFA56}"/>
              </a:ext>
            </a:extLst>
          </p:cNvPr>
          <p:cNvSpPr txBox="1"/>
          <p:nvPr/>
        </p:nvSpPr>
        <p:spPr>
          <a:xfrm>
            <a:off x="5322797" y="1524327"/>
            <a:ext cx="673476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“Kernel” Plugins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Core functionality you inject into your app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Logging, Telemetry, Auth, Caching,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Inject the implementation into your app (ideally) without touching anything but your configuration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“Feature” Plugins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Extend your application with more functionality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Interact via the SDK.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 err="1"/>
              <a:t>IPlugin</a:t>
            </a:r>
            <a:r>
              <a:rPr lang="en-US" dirty="0"/>
              <a:t> interface (provided </a:t>
            </a:r>
            <a:r>
              <a:rPr lang="en-US" b="1" u="sng" dirty="0"/>
              <a:t>BY</a:t>
            </a:r>
            <a:r>
              <a:rPr lang="en-US" dirty="0"/>
              <a:t> plugin)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 err="1"/>
              <a:t>ISomeAPI</a:t>
            </a:r>
            <a:r>
              <a:rPr lang="en-US" dirty="0"/>
              <a:t> your plugins can call (provided </a:t>
            </a:r>
            <a:r>
              <a:rPr lang="en-US" b="1" u="sng" dirty="0"/>
              <a:t>TO</a:t>
            </a:r>
            <a:r>
              <a:rPr lang="en-US" dirty="0"/>
              <a:t> plugin)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… But how does this all come together?!</a:t>
            </a:r>
          </a:p>
        </p:txBody>
      </p:sp>
    </p:spTree>
    <p:extLst>
      <p:ext uri="{BB962C8B-B14F-4D97-AF65-F5344CB8AC3E}">
        <p14:creationId xmlns:p14="http://schemas.microsoft.com/office/powerpoint/2010/main" val="1723221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CE780-B226-BBBB-949E-1E659BFF3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>
            <a:extLst>
              <a:ext uri="{FF2B5EF4-FFF2-40B4-BE49-F238E27FC236}">
                <a16:creationId xmlns:a16="http://schemas.microsoft.com/office/drawing/2014/main" id="{39CC4373-F85A-072F-2243-661145457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39332"/>
            <a:ext cx="12192000" cy="1325563"/>
          </a:xfrm>
        </p:spPr>
        <p:txBody>
          <a:bodyPr/>
          <a:lstStyle/>
          <a:p>
            <a:pPr algn="ctr"/>
            <a:r>
              <a:rPr lang="en-US" dirty="0"/>
              <a:t>DEPENDENCY INJECTION!!!!!!!</a:t>
            </a:r>
          </a:p>
        </p:txBody>
      </p:sp>
    </p:spTree>
    <p:extLst>
      <p:ext uri="{BB962C8B-B14F-4D97-AF65-F5344CB8AC3E}">
        <p14:creationId xmlns:p14="http://schemas.microsoft.com/office/powerpoint/2010/main" val="3875918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loud 4">
            <a:extLst>
              <a:ext uri="{FF2B5EF4-FFF2-40B4-BE49-F238E27FC236}">
                <a16:creationId xmlns:a16="http://schemas.microsoft.com/office/drawing/2014/main" id="{630E2C04-383C-034E-E551-63C7BF171692}"/>
              </a:ext>
            </a:extLst>
          </p:cNvPr>
          <p:cNvSpPr/>
          <p:nvPr/>
        </p:nvSpPr>
        <p:spPr>
          <a:xfrm>
            <a:off x="7117080" y="1690688"/>
            <a:ext cx="3870960" cy="1245552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AC5BA-F0DE-17F0-C18C-C3B1ACAD2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Injection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B588C-C1DC-01B0-494C-BFAA747CD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63440" cy="4351338"/>
          </a:xfrm>
        </p:spPr>
        <p:txBody>
          <a:bodyPr/>
          <a:lstStyle/>
          <a:p>
            <a:r>
              <a:rPr lang="en-US" dirty="0"/>
              <a:t>Use your favorite:</a:t>
            </a:r>
          </a:p>
          <a:p>
            <a:pPr lvl="1"/>
            <a:r>
              <a:rPr lang="en-US" dirty="0" err="1"/>
              <a:t>IServiceCollection</a:t>
            </a:r>
            <a:r>
              <a:rPr lang="en-US" dirty="0"/>
              <a:t>/Provider</a:t>
            </a:r>
          </a:p>
          <a:p>
            <a:pPr lvl="1"/>
            <a:r>
              <a:rPr lang="en-US" dirty="0" err="1"/>
              <a:t>Scrutor</a:t>
            </a:r>
            <a:endParaRPr lang="en-US" dirty="0"/>
          </a:p>
          <a:p>
            <a:pPr lvl="1"/>
            <a:r>
              <a:rPr lang="en-US" dirty="0" err="1"/>
              <a:t>Autofac</a:t>
            </a:r>
            <a:endParaRPr lang="en-US" dirty="0"/>
          </a:p>
          <a:p>
            <a:pPr lvl="1"/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Use “Assembly Scanning”</a:t>
            </a:r>
          </a:p>
          <a:p>
            <a:pPr lvl="1"/>
            <a:r>
              <a:rPr lang="en-US" dirty="0"/>
              <a:t>For each DLL</a:t>
            </a:r>
          </a:p>
          <a:p>
            <a:pPr lvl="1"/>
            <a:r>
              <a:rPr lang="en-US" dirty="0"/>
              <a:t>Pull out the types you want</a:t>
            </a:r>
          </a:p>
          <a:p>
            <a:pPr lvl="1"/>
            <a:r>
              <a:rPr lang="en-US" dirty="0"/>
              <a:t>Wire them up!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6B0158A-18EB-9F15-3E72-B776C4AFA6AA}"/>
              </a:ext>
            </a:extLst>
          </p:cNvPr>
          <p:cNvSpPr txBox="1">
            <a:spLocks/>
          </p:cNvSpPr>
          <p:nvPr/>
        </p:nvSpPr>
        <p:spPr>
          <a:xfrm>
            <a:off x="7493000" y="1971039"/>
            <a:ext cx="4572000" cy="42059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Food for thought: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 will be talking about this from the perspective of “at startup”… but what do you need to consider to do this later in the app lifecycle?</a:t>
            </a:r>
          </a:p>
        </p:txBody>
      </p:sp>
    </p:spTree>
    <p:extLst>
      <p:ext uri="{BB962C8B-B14F-4D97-AF65-F5344CB8AC3E}">
        <p14:creationId xmlns:p14="http://schemas.microsoft.com/office/powerpoint/2010/main" val="1571846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278EB-0C9B-A919-B169-EFB55EB08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A5ADD65-FB49-C208-F75D-5AF9F2601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7981" cy="6858000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8B2662D-6A1E-FBA8-F312-75236A541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7520" y="169545"/>
            <a:ext cx="4978400" cy="50284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This is a real example!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D870049-6AA1-FFDB-565E-CEB84F13F62A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863600" y="2329974"/>
            <a:ext cx="1244600" cy="2049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1675224-01DB-8D24-8C42-27B4A5B3F4E6}"/>
              </a:ext>
            </a:extLst>
          </p:cNvPr>
          <p:cNvSpPr txBox="1">
            <a:spLocks/>
          </p:cNvSpPr>
          <p:nvPr/>
        </p:nvSpPr>
        <p:spPr>
          <a:xfrm>
            <a:off x="2108200" y="2215674"/>
            <a:ext cx="768459" cy="228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Kernel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D960973-9943-D61D-7848-558CFE157D41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894080" y="4434364"/>
            <a:ext cx="1214120" cy="2049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4D3176A4-20FF-D782-6F09-5ACB5D9F60BB}"/>
              </a:ext>
            </a:extLst>
          </p:cNvPr>
          <p:cNvSpPr txBox="1">
            <a:spLocks/>
          </p:cNvSpPr>
          <p:nvPr/>
        </p:nvSpPr>
        <p:spPr>
          <a:xfrm>
            <a:off x="2108200" y="4320064"/>
            <a:ext cx="798939" cy="228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Kernel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A23D73C-A607-19DB-4390-B287CB9DABF5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797560" y="4434364"/>
            <a:ext cx="1310640" cy="2955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852B3B9-F244-79C3-96A6-DCCA51AAD749}"/>
              </a:ext>
            </a:extLst>
          </p:cNvPr>
          <p:cNvCxnSpPr>
            <a:cxnSpLocks/>
            <a:stCxn id="28" idx="1"/>
          </p:cNvCxnSpPr>
          <p:nvPr/>
        </p:nvCxnSpPr>
        <p:spPr>
          <a:xfrm flipH="1">
            <a:off x="940743" y="1694974"/>
            <a:ext cx="1167458" cy="2049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EE48C7A1-8585-C56C-56CF-A6A1C9C4CCFC}"/>
              </a:ext>
            </a:extLst>
          </p:cNvPr>
          <p:cNvSpPr txBox="1">
            <a:spLocks/>
          </p:cNvSpPr>
          <p:nvPr/>
        </p:nvSpPr>
        <p:spPr>
          <a:xfrm>
            <a:off x="2108201" y="1580674"/>
            <a:ext cx="845602" cy="228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Kernel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F7ACEC4-DB55-B335-E453-5FD5A41CA2C6}"/>
              </a:ext>
            </a:extLst>
          </p:cNvPr>
          <p:cNvCxnSpPr>
            <a:cxnSpLocks/>
            <a:stCxn id="30" idx="1"/>
          </p:cNvCxnSpPr>
          <p:nvPr/>
        </p:nvCxnSpPr>
        <p:spPr>
          <a:xfrm flipH="1">
            <a:off x="1031240" y="1119664"/>
            <a:ext cx="1076960" cy="2049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DA03C102-1B6D-2B95-EBEB-A2CCC7D0E40B}"/>
              </a:ext>
            </a:extLst>
          </p:cNvPr>
          <p:cNvSpPr txBox="1">
            <a:spLocks/>
          </p:cNvSpPr>
          <p:nvPr/>
        </p:nvSpPr>
        <p:spPr>
          <a:xfrm>
            <a:off x="2108200" y="1005364"/>
            <a:ext cx="936099" cy="228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Kernel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7D9ABF6-C8A2-EF1F-0869-F54407EECF56}"/>
              </a:ext>
            </a:extLst>
          </p:cNvPr>
          <p:cNvCxnSpPr>
            <a:cxnSpLocks/>
            <a:stCxn id="33" idx="1"/>
          </p:cNvCxnSpPr>
          <p:nvPr/>
        </p:nvCxnSpPr>
        <p:spPr>
          <a:xfrm flipH="1">
            <a:off x="863600" y="558086"/>
            <a:ext cx="1244600" cy="1970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B97B0033-0695-57D1-735E-EF1BDD5400BD}"/>
              </a:ext>
            </a:extLst>
          </p:cNvPr>
          <p:cNvSpPr txBox="1">
            <a:spLocks/>
          </p:cNvSpPr>
          <p:nvPr/>
        </p:nvSpPr>
        <p:spPr>
          <a:xfrm>
            <a:off x="2108200" y="443786"/>
            <a:ext cx="936099" cy="228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Kernel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3A5E49A-415E-B2DD-3C5C-D3360A5F95E3}"/>
              </a:ext>
            </a:extLst>
          </p:cNvPr>
          <p:cNvCxnSpPr>
            <a:cxnSpLocks/>
            <a:stCxn id="43" idx="1"/>
          </p:cNvCxnSpPr>
          <p:nvPr/>
        </p:nvCxnSpPr>
        <p:spPr>
          <a:xfrm flipH="1">
            <a:off x="1031240" y="3302953"/>
            <a:ext cx="1076960" cy="2049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D84A34C4-EB1F-D94D-17B0-7755BF3D23BC}"/>
              </a:ext>
            </a:extLst>
          </p:cNvPr>
          <p:cNvSpPr txBox="1">
            <a:spLocks/>
          </p:cNvSpPr>
          <p:nvPr/>
        </p:nvSpPr>
        <p:spPr>
          <a:xfrm>
            <a:off x="2108200" y="3188653"/>
            <a:ext cx="936099" cy="228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Kernel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9A4F69E-4B4A-B8C9-96D2-B6B99E113807}"/>
              </a:ext>
            </a:extLst>
          </p:cNvPr>
          <p:cNvCxnSpPr>
            <a:cxnSpLocks/>
            <a:stCxn id="47" idx="1"/>
          </p:cNvCxnSpPr>
          <p:nvPr/>
        </p:nvCxnSpPr>
        <p:spPr>
          <a:xfrm flipH="1">
            <a:off x="894080" y="2747883"/>
            <a:ext cx="1214120" cy="2049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2DFB0B8B-1FCE-DE94-D338-6A33C0027B1B}"/>
              </a:ext>
            </a:extLst>
          </p:cNvPr>
          <p:cNvSpPr txBox="1">
            <a:spLocks/>
          </p:cNvSpPr>
          <p:nvPr/>
        </p:nvSpPr>
        <p:spPr>
          <a:xfrm>
            <a:off x="2108200" y="2633583"/>
            <a:ext cx="798939" cy="228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Kernel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B7E662B-3BD3-AB40-8774-14CC9B2E959C}"/>
              </a:ext>
            </a:extLst>
          </p:cNvPr>
          <p:cNvCxnSpPr>
            <a:cxnSpLocks/>
            <a:stCxn id="47" idx="1"/>
          </p:cNvCxnSpPr>
          <p:nvPr/>
        </p:nvCxnSpPr>
        <p:spPr>
          <a:xfrm flipH="1">
            <a:off x="995680" y="2747883"/>
            <a:ext cx="1112520" cy="2747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8E74E05-6562-361C-18B7-9FB7A6075CFB}"/>
              </a:ext>
            </a:extLst>
          </p:cNvPr>
          <p:cNvCxnSpPr>
            <a:cxnSpLocks/>
            <a:stCxn id="53" idx="1"/>
          </p:cNvCxnSpPr>
          <p:nvPr/>
        </p:nvCxnSpPr>
        <p:spPr>
          <a:xfrm flipH="1">
            <a:off x="863600" y="908210"/>
            <a:ext cx="1806411" cy="2480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91E9EBB9-7DA5-1F97-60B5-9D9BCCB2B0A0}"/>
              </a:ext>
            </a:extLst>
          </p:cNvPr>
          <p:cNvSpPr txBox="1">
            <a:spLocks/>
          </p:cNvSpPr>
          <p:nvPr/>
        </p:nvSpPr>
        <p:spPr>
          <a:xfrm>
            <a:off x="2670011" y="793910"/>
            <a:ext cx="936099" cy="228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Feature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B0EE500-3008-A984-5890-1F8F99DEA6F1}"/>
              </a:ext>
            </a:extLst>
          </p:cNvPr>
          <p:cNvCxnSpPr>
            <a:cxnSpLocks/>
            <a:stCxn id="57" idx="1"/>
          </p:cNvCxnSpPr>
          <p:nvPr/>
        </p:nvCxnSpPr>
        <p:spPr>
          <a:xfrm flipH="1">
            <a:off x="863600" y="1475066"/>
            <a:ext cx="1806411" cy="2480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BD77AB27-D057-DAE2-8313-8DE0665A95A1}"/>
              </a:ext>
            </a:extLst>
          </p:cNvPr>
          <p:cNvSpPr txBox="1">
            <a:spLocks/>
          </p:cNvSpPr>
          <p:nvPr/>
        </p:nvSpPr>
        <p:spPr>
          <a:xfrm>
            <a:off x="2670011" y="1360766"/>
            <a:ext cx="936099" cy="228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Feature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4D83C71-0A5F-A98D-2331-195C1864DD30}"/>
              </a:ext>
            </a:extLst>
          </p:cNvPr>
          <p:cNvCxnSpPr>
            <a:cxnSpLocks/>
            <a:stCxn id="59" idx="1"/>
          </p:cNvCxnSpPr>
          <p:nvPr/>
        </p:nvCxnSpPr>
        <p:spPr>
          <a:xfrm flipH="1">
            <a:off x="1259150" y="1798121"/>
            <a:ext cx="1410861" cy="2480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DFD02A18-9071-F2CC-3CAC-E45CFB6A6636}"/>
              </a:ext>
            </a:extLst>
          </p:cNvPr>
          <p:cNvSpPr txBox="1">
            <a:spLocks/>
          </p:cNvSpPr>
          <p:nvPr/>
        </p:nvSpPr>
        <p:spPr>
          <a:xfrm>
            <a:off x="2670011" y="1683821"/>
            <a:ext cx="1331650" cy="228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Feature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709A3D9-60C3-9BFD-F500-C2CAA1D85B6E}"/>
              </a:ext>
            </a:extLst>
          </p:cNvPr>
          <p:cNvCxnSpPr>
            <a:cxnSpLocks/>
            <a:stCxn id="59" idx="1"/>
          </p:cNvCxnSpPr>
          <p:nvPr/>
        </p:nvCxnSpPr>
        <p:spPr>
          <a:xfrm flipH="1">
            <a:off x="1107440" y="1798121"/>
            <a:ext cx="1562571" cy="3405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E249419-4DE8-2E20-A828-56294B91B4A5}"/>
              </a:ext>
            </a:extLst>
          </p:cNvPr>
          <p:cNvCxnSpPr>
            <a:cxnSpLocks/>
            <a:stCxn id="66" idx="1"/>
          </p:cNvCxnSpPr>
          <p:nvPr/>
        </p:nvCxnSpPr>
        <p:spPr>
          <a:xfrm flipH="1">
            <a:off x="904585" y="2515831"/>
            <a:ext cx="1765426" cy="2549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6" name="Content Placeholder 2">
            <a:extLst>
              <a:ext uri="{FF2B5EF4-FFF2-40B4-BE49-F238E27FC236}">
                <a16:creationId xmlns:a16="http://schemas.microsoft.com/office/drawing/2014/main" id="{6F1E0ABA-8400-D234-BDC0-A8760DD96381}"/>
              </a:ext>
            </a:extLst>
          </p:cNvPr>
          <p:cNvSpPr txBox="1">
            <a:spLocks/>
          </p:cNvSpPr>
          <p:nvPr/>
        </p:nvSpPr>
        <p:spPr>
          <a:xfrm>
            <a:off x="2670011" y="2401531"/>
            <a:ext cx="936099" cy="228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Feature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5CD0301-D922-827A-BFC7-243409E0524C}"/>
              </a:ext>
            </a:extLst>
          </p:cNvPr>
          <p:cNvCxnSpPr>
            <a:cxnSpLocks/>
            <a:stCxn id="69" idx="1"/>
          </p:cNvCxnSpPr>
          <p:nvPr/>
        </p:nvCxnSpPr>
        <p:spPr>
          <a:xfrm flipH="1">
            <a:off x="923871" y="2935487"/>
            <a:ext cx="1746141" cy="2480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9" name="Content Placeholder 2">
            <a:extLst>
              <a:ext uri="{FF2B5EF4-FFF2-40B4-BE49-F238E27FC236}">
                <a16:creationId xmlns:a16="http://schemas.microsoft.com/office/drawing/2014/main" id="{09320418-3B37-2ECA-9C01-A1BCA90807B6}"/>
              </a:ext>
            </a:extLst>
          </p:cNvPr>
          <p:cNvSpPr txBox="1">
            <a:spLocks/>
          </p:cNvSpPr>
          <p:nvPr/>
        </p:nvSpPr>
        <p:spPr>
          <a:xfrm>
            <a:off x="2670012" y="2821187"/>
            <a:ext cx="996370" cy="228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Feature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F86E4D05-E2AE-F1E7-4969-35F520B07EB9}"/>
              </a:ext>
            </a:extLst>
          </p:cNvPr>
          <p:cNvCxnSpPr>
            <a:cxnSpLocks/>
            <a:stCxn id="73" idx="1"/>
          </p:cNvCxnSpPr>
          <p:nvPr/>
        </p:nvCxnSpPr>
        <p:spPr>
          <a:xfrm flipH="1">
            <a:off x="1049237" y="3568065"/>
            <a:ext cx="1620774" cy="2480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3" name="Content Placeholder 2">
            <a:extLst>
              <a:ext uri="{FF2B5EF4-FFF2-40B4-BE49-F238E27FC236}">
                <a16:creationId xmlns:a16="http://schemas.microsoft.com/office/drawing/2014/main" id="{D227095B-B17C-3C6A-FA83-BFE779B4FBF9}"/>
              </a:ext>
            </a:extLst>
          </p:cNvPr>
          <p:cNvSpPr txBox="1">
            <a:spLocks/>
          </p:cNvSpPr>
          <p:nvPr/>
        </p:nvSpPr>
        <p:spPr>
          <a:xfrm>
            <a:off x="2670011" y="3453765"/>
            <a:ext cx="1121737" cy="228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Feature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B32D6EB7-2C9C-E7A9-8768-092B691C4B2C}"/>
              </a:ext>
            </a:extLst>
          </p:cNvPr>
          <p:cNvCxnSpPr>
            <a:cxnSpLocks/>
            <a:stCxn id="73" idx="1"/>
          </p:cNvCxnSpPr>
          <p:nvPr/>
        </p:nvCxnSpPr>
        <p:spPr>
          <a:xfrm flipH="1">
            <a:off x="1049237" y="3568065"/>
            <a:ext cx="1620774" cy="3435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B600AE72-F05B-08D7-FAA5-AAFF96E6843A}"/>
              </a:ext>
            </a:extLst>
          </p:cNvPr>
          <p:cNvCxnSpPr>
            <a:cxnSpLocks/>
            <a:stCxn id="73" idx="1"/>
          </p:cNvCxnSpPr>
          <p:nvPr/>
        </p:nvCxnSpPr>
        <p:spPr>
          <a:xfrm flipH="1">
            <a:off x="995680" y="3568065"/>
            <a:ext cx="1674331" cy="5010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2" name="Content Placeholder 2">
            <a:extLst>
              <a:ext uri="{FF2B5EF4-FFF2-40B4-BE49-F238E27FC236}">
                <a16:creationId xmlns:a16="http://schemas.microsoft.com/office/drawing/2014/main" id="{5E09F862-FA35-D53B-2A20-2C230A0AFC4D}"/>
              </a:ext>
            </a:extLst>
          </p:cNvPr>
          <p:cNvSpPr txBox="1">
            <a:spLocks/>
          </p:cNvSpPr>
          <p:nvPr/>
        </p:nvSpPr>
        <p:spPr>
          <a:xfrm>
            <a:off x="1480946" y="4938317"/>
            <a:ext cx="2125164" cy="635118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… there are a lot. You get the idea.</a:t>
            </a:r>
          </a:p>
        </p:txBody>
      </p:sp>
      <p:sp>
        <p:nvSpPr>
          <p:cNvPr id="83" name="Content Placeholder 2">
            <a:extLst>
              <a:ext uri="{FF2B5EF4-FFF2-40B4-BE49-F238E27FC236}">
                <a16:creationId xmlns:a16="http://schemas.microsoft.com/office/drawing/2014/main" id="{529AF8E8-FE5E-BB29-F0B9-C2DA37335F3E}"/>
              </a:ext>
            </a:extLst>
          </p:cNvPr>
          <p:cNvSpPr txBox="1">
            <a:spLocks/>
          </p:cNvSpPr>
          <p:nvPr/>
        </p:nvSpPr>
        <p:spPr>
          <a:xfrm>
            <a:off x="4228194" y="1005364"/>
            <a:ext cx="7587886" cy="478583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This is made basically impossible to read on purpose.</a:t>
            </a:r>
          </a:p>
          <a:p>
            <a:r>
              <a:rPr lang="en-US" dirty="0"/>
              <a:t>There are a LOT of plugins</a:t>
            </a:r>
          </a:p>
          <a:p>
            <a:r>
              <a:rPr lang="en-US" dirty="0"/>
              <a:t>There is a LOT of functionality</a:t>
            </a:r>
          </a:p>
          <a:p>
            <a:endParaRPr lang="en-US" dirty="0"/>
          </a:p>
          <a:p>
            <a:r>
              <a:rPr lang="en-US" dirty="0"/>
              <a:t>Each one is isolated. Project is a boundary.</a:t>
            </a:r>
          </a:p>
          <a:p>
            <a:r>
              <a:rPr lang="en-US" dirty="0"/>
              <a:t>Features use the SDK. Kernel uses common APIs.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… But how do we hook it all up?!</a:t>
            </a:r>
          </a:p>
        </p:txBody>
      </p:sp>
    </p:spTree>
    <p:extLst>
      <p:ext uri="{BB962C8B-B14F-4D97-AF65-F5344CB8AC3E}">
        <p14:creationId xmlns:p14="http://schemas.microsoft.com/office/powerpoint/2010/main" val="640850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D524A-25C6-994D-5F6A-02147C49D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ontent Placeholder 2">
            <a:extLst>
              <a:ext uri="{FF2B5EF4-FFF2-40B4-BE49-F238E27FC236}">
                <a16:creationId xmlns:a16="http://schemas.microsoft.com/office/drawing/2014/main" id="{5E2901E6-CC27-A2FA-6A6C-AADD2B53C6F3}"/>
              </a:ext>
            </a:extLst>
          </p:cNvPr>
          <p:cNvSpPr txBox="1">
            <a:spLocks/>
          </p:cNvSpPr>
          <p:nvPr/>
        </p:nvSpPr>
        <p:spPr>
          <a:xfrm>
            <a:off x="40640" y="5628640"/>
            <a:ext cx="7532006" cy="1061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Just 20 lines of code!</a:t>
            </a:r>
            <a:br>
              <a:rPr lang="en-US" dirty="0"/>
            </a:br>
            <a:r>
              <a:rPr lang="en-US" dirty="0"/>
              <a:t>… But what does it actually do?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19AEFB-2AFF-EEFA-6E76-8CA1CD17E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7038" y="-50800"/>
            <a:ext cx="10034477" cy="54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093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97319-D1D0-CDD6-6700-00D0374AF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AB362-C153-D21F-3E85-F17DF3B54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 &amp; Register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970FA-9A51-7F71-1243-A9F2FC8C0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076" y="1825625"/>
            <a:ext cx="7086599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Typically done with Reflection &amp; DI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Pseudo code:</a:t>
            </a:r>
          </a:p>
          <a:p>
            <a:r>
              <a:rPr lang="en-US" dirty="0"/>
              <a:t>Foreach assembly file in the target folder(s)</a:t>
            </a:r>
          </a:p>
          <a:p>
            <a:pPr lvl="1"/>
            <a:r>
              <a:rPr lang="en-US" dirty="0"/>
              <a:t>Ask the assembly for every type (that you care about)</a:t>
            </a:r>
          </a:p>
          <a:p>
            <a:pPr lvl="1"/>
            <a:r>
              <a:rPr lang="en-US" dirty="0"/>
              <a:t>Invoke something on the type (give it your DI container)</a:t>
            </a:r>
            <a:br>
              <a:rPr lang="en-US" dirty="0"/>
            </a:br>
            <a:r>
              <a:rPr lang="en-US" dirty="0"/>
              <a:t>OR</a:t>
            </a:r>
            <a:br>
              <a:rPr lang="en-US" dirty="0"/>
            </a:br>
            <a:r>
              <a:rPr lang="en-US" dirty="0"/>
              <a:t>Register the type on your DI container</a:t>
            </a:r>
          </a:p>
          <a:p>
            <a:r>
              <a:rPr lang="en-US" dirty="0"/>
              <a:t>Build the service collection -&gt; </a:t>
            </a:r>
            <a:r>
              <a:rPr lang="en-US" dirty="0" err="1"/>
              <a:t>IServiceProvider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9FCA41-0C35-E492-8D80-CC17C438C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3072" y="681037"/>
            <a:ext cx="7054740" cy="4538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392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3FA7E-3347-CCBD-CFA3-430A18CFF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DE905-8E4E-D0C4-AC9E-80851D6FA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dirty="0"/>
              <a:t>Kernel Plugins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B4F4A-1BFA-D109-F430-D4DAB08F9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063625"/>
            <a:ext cx="11515725" cy="4351338"/>
          </a:xfrm>
        </p:spPr>
        <p:txBody>
          <a:bodyPr>
            <a:normAutofit/>
          </a:bodyPr>
          <a:lstStyle/>
          <a:p>
            <a:r>
              <a:rPr lang="en-US" dirty="0"/>
              <a:t>“What if we wanted to swap to X later?”</a:t>
            </a:r>
          </a:p>
          <a:p>
            <a:r>
              <a:rPr lang="en-US" dirty="0"/>
              <a:t>Generally added into the DI container and meets an interface like…</a:t>
            </a:r>
          </a:p>
          <a:p>
            <a:pPr lvl="1"/>
            <a:r>
              <a:rPr lang="en-US" dirty="0" err="1"/>
              <a:t>ILogger</a:t>
            </a:r>
            <a:r>
              <a:rPr lang="en-US" dirty="0"/>
              <a:t>, </a:t>
            </a:r>
            <a:r>
              <a:rPr lang="en-US" dirty="0" err="1"/>
              <a:t>IHybridCache</a:t>
            </a:r>
            <a:r>
              <a:rPr lang="en-US" dirty="0"/>
              <a:t>, </a:t>
            </a:r>
            <a:r>
              <a:rPr lang="en-US" dirty="0" err="1"/>
              <a:t>ITelemetry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Normally extension methods get used: </a:t>
            </a:r>
            <a:r>
              <a:rPr lang="en-US" dirty="0" err="1"/>
              <a:t>services.AddLogging</a:t>
            </a:r>
            <a:r>
              <a:rPr lang="en-US" dirty="0"/>
              <a:t>(); but…</a:t>
            </a:r>
            <a:br>
              <a:rPr lang="en-US" dirty="0"/>
            </a:b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F2905F-3320-6DDF-5FD7-221199309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39" y="4117535"/>
            <a:ext cx="8417968" cy="27404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ECA18E-83EC-00BD-C20D-FA756A02AD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39" y="2988811"/>
            <a:ext cx="8417968" cy="1097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57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5E56B-398B-FDF4-3762-37398622A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A4425-81A8-D00A-9F72-87C54F5F0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49226"/>
            <a:ext cx="10515600" cy="1325563"/>
          </a:xfrm>
        </p:spPr>
        <p:txBody>
          <a:bodyPr/>
          <a:lstStyle/>
          <a:p>
            <a:r>
              <a:rPr lang="en-US" dirty="0"/>
              <a:t>Feature Plugin (Provides </a:t>
            </a:r>
            <a:r>
              <a:rPr lang="en-US" dirty="0" err="1"/>
              <a:t>IPluginInterface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48009-1CA8-AEA6-6C68-ED8733795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44482"/>
            <a:ext cx="10515600" cy="4351338"/>
          </a:xfrm>
        </p:spPr>
        <p:txBody>
          <a:bodyPr/>
          <a:lstStyle/>
          <a:p>
            <a:r>
              <a:rPr lang="en-US" dirty="0"/>
              <a:t>Features enable new functionality in the application itself</a:t>
            </a:r>
          </a:p>
          <a:p>
            <a:pPr lvl="1"/>
            <a:r>
              <a:rPr lang="en-US" dirty="0"/>
              <a:t>They extend it, where kernel mode plugins are more like a core implementation</a:t>
            </a:r>
          </a:p>
          <a:p>
            <a:pPr lvl="1"/>
            <a:r>
              <a:rPr lang="en-US" dirty="0"/>
              <a:t>I don’t really believe in “rules”, so this is mostly guidance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2E672C-B3BF-3542-63A6-2052C2D9F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76504"/>
            <a:ext cx="8590042" cy="31814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9EEF1B-2EFC-B440-C4C0-6E7A5D08A2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00880"/>
            <a:ext cx="7053166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939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2A63E-FD66-2873-0E19-D92CEE0DF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91E9D-7F22-1514-CD71-FBD47CD55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874" y="-52707"/>
            <a:ext cx="10372725" cy="1325563"/>
          </a:xfrm>
        </p:spPr>
        <p:txBody>
          <a:bodyPr/>
          <a:lstStyle/>
          <a:p>
            <a:r>
              <a:rPr lang="en-US" dirty="0"/>
              <a:t>SDK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23831-F95A-9A3A-8DD8-BC2870A08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75" y="1390650"/>
            <a:ext cx="5057775" cy="4786313"/>
          </a:xfrm>
        </p:spPr>
        <p:txBody>
          <a:bodyPr/>
          <a:lstStyle/>
          <a:p>
            <a:r>
              <a:rPr lang="en-US" dirty="0"/>
              <a:t>Think of the SDK as interface between:</a:t>
            </a:r>
          </a:p>
          <a:p>
            <a:pPr lvl="1"/>
            <a:r>
              <a:rPr lang="en-US" dirty="0"/>
              <a:t>Your core app and plugins</a:t>
            </a:r>
          </a:p>
          <a:p>
            <a:pPr lvl="1"/>
            <a:r>
              <a:rPr lang="en-US" dirty="0"/>
              <a:t>Plugins and your app’s features</a:t>
            </a:r>
          </a:p>
          <a:p>
            <a:pPr lvl="1"/>
            <a:r>
              <a:rPr lang="en-US" dirty="0"/>
              <a:t>It’s </a:t>
            </a:r>
            <a:r>
              <a:rPr lang="en-US" b="1" u="sng" dirty="0"/>
              <a:t>shared</a:t>
            </a:r>
          </a:p>
          <a:p>
            <a:r>
              <a:rPr lang="en-US" dirty="0"/>
              <a:t>Core app shouldn’t know about specific plugins, but it does see the SDK interface</a:t>
            </a:r>
          </a:p>
          <a:p>
            <a:r>
              <a:rPr lang="en-US" dirty="0"/>
              <a:t>Plugins may need to communicate the other direction… Use the SDK!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25E096-900B-4CEE-A95B-7C528AFF3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5961" y="-1"/>
            <a:ext cx="6876040" cy="679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810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0683C-1A4C-0088-41FB-75234DC28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B80E7-2B24-5B89-11FC-DDA21BF6B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2CF97-01A1-9DCA-D0E3-739197D03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Plugins are, by definition, modular and isolated</a:t>
            </a:r>
          </a:p>
          <a:p>
            <a:pPr lvl="1"/>
            <a:r>
              <a:rPr lang="en-US" dirty="0"/>
              <a:t>New feature plugins shouldn’t touch other code (regressions unlikely)</a:t>
            </a:r>
          </a:p>
          <a:p>
            <a:pPr lvl="1"/>
            <a:r>
              <a:rPr lang="en-US" dirty="0"/>
              <a:t>Can test feature plugins relatively easily in isolation</a:t>
            </a:r>
          </a:p>
          <a:p>
            <a:r>
              <a:rPr lang="en-US" dirty="0"/>
              <a:t>Kernel plugins usually inject an implementation… How to test?</a:t>
            </a:r>
          </a:p>
          <a:p>
            <a:pPr lvl="1"/>
            <a:r>
              <a:rPr lang="en-US" dirty="0"/>
              <a:t>This may have an impact ACROSS other plugins and the core app</a:t>
            </a:r>
          </a:p>
          <a:p>
            <a:r>
              <a:rPr lang="en-US" dirty="0"/>
              <a:t>Things become SO modular that our codebase becomes units…</a:t>
            </a:r>
          </a:p>
          <a:p>
            <a:pPr lvl="1"/>
            <a:r>
              <a:rPr lang="en-US" dirty="0"/>
              <a:t>We need alternative coverage!</a:t>
            </a:r>
          </a:p>
          <a:p>
            <a:r>
              <a:rPr lang="en-US" dirty="0"/>
              <a:t>... Everything might work on its own, but your app doesn’t have the functionality you expect if all of the plugins you need aren’t present!</a:t>
            </a:r>
          </a:p>
        </p:txBody>
      </p:sp>
    </p:spTree>
    <p:extLst>
      <p:ext uri="{BB962C8B-B14F-4D97-AF65-F5344CB8AC3E}">
        <p14:creationId xmlns:p14="http://schemas.microsoft.com/office/powerpoint/2010/main" val="3376519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33220-8A9F-78B3-D06C-009D480E4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71829-EB7E-38DA-26DB-713E4DD59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ArchUnitNET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C4BDAB-7B66-3603-D107-CE154C1D8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9729" y="0"/>
            <a:ext cx="68784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5981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E4A55-9429-6810-3A77-F1B046503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67E2B-4DCB-8A3C-FCB4-8FEDD6655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Speed Round Topics For 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5C85F-13A6-834C-F628-39C498042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76900" cy="4351338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Façade Design Pattern</a:t>
            </a:r>
          </a:p>
          <a:p>
            <a:r>
              <a:rPr lang="en-US" dirty="0"/>
              <a:t>Reflection vs Code Generation</a:t>
            </a:r>
          </a:p>
          <a:p>
            <a:r>
              <a:rPr lang="en-US" dirty="0"/>
              <a:t>Unloading Plugins</a:t>
            </a:r>
          </a:p>
          <a:p>
            <a:r>
              <a:rPr lang="en-US" dirty="0"/>
              <a:t>Versioning Plugins</a:t>
            </a:r>
          </a:p>
          <a:p>
            <a:r>
              <a:rPr lang="en-US" dirty="0" err="1"/>
              <a:t>Scrutor</a:t>
            </a:r>
            <a:r>
              <a:rPr lang="en-US" dirty="0"/>
              <a:t> (Assembly Scanning)</a:t>
            </a:r>
          </a:p>
          <a:p>
            <a:r>
              <a:rPr lang="en-US" dirty="0" err="1"/>
              <a:t>Autofac</a:t>
            </a:r>
            <a:r>
              <a:rPr lang="en-US" dirty="0"/>
              <a:t> (Plugin Organization)</a:t>
            </a:r>
          </a:p>
          <a:p>
            <a:r>
              <a:rPr lang="en-US" dirty="0" err="1"/>
              <a:t>Needlr</a:t>
            </a:r>
            <a:r>
              <a:rPr lang="en-US" dirty="0"/>
              <a:t> (Mine! </a:t>
            </a:r>
            <a:r>
              <a:rPr lang="en-US" dirty="0" err="1"/>
              <a:t>Scrutor+Autofac</a:t>
            </a:r>
            <a:r>
              <a:rPr lang="en-US" dirty="0"/>
              <a:t> style)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C39E89-10BB-94A8-7038-B8C878B6DD37}"/>
              </a:ext>
            </a:extLst>
          </p:cNvPr>
          <p:cNvSpPr txBox="1">
            <a:spLocks/>
          </p:cNvSpPr>
          <p:nvPr/>
        </p:nvSpPr>
        <p:spPr>
          <a:xfrm>
            <a:off x="6096000" y="1811338"/>
            <a:ext cx="56769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/>
              <a:t>Architecture Testing</a:t>
            </a:r>
          </a:p>
          <a:p>
            <a:r>
              <a:rPr lang="en-US" dirty="0"/>
              <a:t>Configuration Testing</a:t>
            </a:r>
          </a:p>
          <a:p>
            <a:r>
              <a:rPr lang="en-US" dirty="0"/>
              <a:t>Building &amp; Deploying w/ Plugins</a:t>
            </a:r>
          </a:p>
          <a:p>
            <a:r>
              <a:rPr lang="en-US" dirty="0"/>
              <a:t>Security &amp; Privilege</a:t>
            </a:r>
          </a:p>
          <a:p>
            <a:r>
              <a:rPr lang="en-US" dirty="0"/>
              <a:t>Boundaries</a:t>
            </a:r>
          </a:p>
        </p:txBody>
      </p:sp>
    </p:spTree>
    <p:extLst>
      <p:ext uri="{BB962C8B-B14F-4D97-AF65-F5344CB8AC3E}">
        <p14:creationId xmlns:p14="http://schemas.microsoft.com/office/powerpoint/2010/main" val="23840188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568C3-1896-3782-C3B2-B3BFA26C2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AE18C-D206-9C7B-A143-CF3ADEF7F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Needlr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186DE-07D0-E929-A1DA-FD9C98503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55813"/>
            <a:ext cx="5086350" cy="412114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4800" dirty="0"/>
              <a:t>I build a fun little dependency scanning and registration library!</a:t>
            </a:r>
          </a:p>
          <a:p>
            <a:pPr marL="0" indent="0">
              <a:buNone/>
            </a:pPr>
            <a:endParaRPr lang="en-US" sz="4800" dirty="0"/>
          </a:p>
          <a:p>
            <a:pPr marL="0" indent="0">
              <a:buNone/>
            </a:pPr>
            <a:r>
              <a:rPr lang="en-US" sz="4800" dirty="0">
                <a:hlinkClick r:id="rId3"/>
              </a:rPr>
              <a:t>https://github.com/ncosentino/needlr</a:t>
            </a:r>
            <a:endParaRPr lang="en-US" sz="4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3B4F39-7564-07E7-77B1-FC7B08D76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4447" y="0"/>
            <a:ext cx="60180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0316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F31B9-D8B3-4FED-858A-C3B1E3C6C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2D7DA-0E33-2CCA-915D-D2AF8F514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3368A-B9BC-EC2E-8B52-56D5A770D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990849"/>
            <a:ext cx="9858375" cy="318611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800" dirty="0"/>
              <a:t>AMA – I will make a YouTube video tutorial dedicated to it!</a:t>
            </a:r>
          </a:p>
        </p:txBody>
      </p:sp>
    </p:spTree>
    <p:extLst>
      <p:ext uri="{BB962C8B-B14F-4D97-AF65-F5344CB8AC3E}">
        <p14:creationId xmlns:p14="http://schemas.microsoft.com/office/powerpoint/2010/main" val="3570053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68845-66D3-A91E-442B-5C8982CD0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Have Fun Building With Plugins!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5C433-ABFD-F7EB-1908-3E6AFF738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8325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You can find me everywhere as:</a:t>
            </a:r>
            <a:br>
              <a:rPr lang="en-US" dirty="0"/>
            </a:br>
            <a:r>
              <a:rPr lang="en-US" dirty="0">
                <a:hlinkClick r:id="rId3"/>
              </a:rPr>
              <a:t>Dev Leader</a:t>
            </a:r>
            <a:br>
              <a:rPr lang="en-US" dirty="0"/>
            </a:br>
            <a:endParaRPr lang="en-US" dirty="0"/>
          </a:p>
          <a:p>
            <a:r>
              <a:rPr lang="en-US" dirty="0">
                <a:hlinkClick r:id="rId4"/>
              </a:rPr>
              <a:t>If you want C# courses, I have them on Dometrain</a:t>
            </a:r>
            <a:r>
              <a:rPr lang="en-US" dirty="0"/>
              <a:t> – but all of my other educational content is free!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801E77-2F4A-EB95-0E96-F16605D6AC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2300" y="1638300"/>
            <a:ext cx="5219700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293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10746</TotalTime>
  <Words>816</Words>
  <Application>Microsoft Office PowerPoint</Application>
  <PresentationFormat>Widescreen</PresentationFormat>
  <Paragraphs>172</Paragraphs>
  <Slides>19</Slides>
  <Notes>19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PowerPoint Presentation</vt:lpstr>
      <vt:lpstr>Overview</vt:lpstr>
      <vt:lpstr>Hi, I’m Nick Cosentino!</vt:lpstr>
      <vt:lpstr>Pillars of Plugin Architecture</vt:lpstr>
      <vt:lpstr>Components &amp; Structure</vt:lpstr>
      <vt:lpstr>DEPENDENCY INJECTION!!!!!!!</vt:lpstr>
      <vt:lpstr>Dependency Injection</vt:lpstr>
      <vt:lpstr>PowerPoint Presentation</vt:lpstr>
      <vt:lpstr>PowerPoint Presentation</vt:lpstr>
      <vt:lpstr>Scan &amp; Register</vt:lpstr>
      <vt:lpstr>Kernel Plugins</vt:lpstr>
      <vt:lpstr>Feature Plugin (Provides IPluginInterface)</vt:lpstr>
      <vt:lpstr>SDK Considerations</vt:lpstr>
      <vt:lpstr>Testing</vt:lpstr>
      <vt:lpstr>ArchUnitNET</vt:lpstr>
      <vt:lpstr>Speed Round Topics For Homework</vt:lpstr>
      <vt:lpstr>Needlr</vt:lpstr>
      <vt:lpstr>Questions?</vt:lpstr>
      <vt:lpstr>Have Fun Building With Plugins!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Nick Cosentino</dc:creator>
  <cp:lastModifiedBy>Nick Cosentino</cp:lastModifiedBy>
  <cp:revision>43</cp:revision>
  <dcterms:created xsi:type="dcterms:W3CDTF">2024-07-20T14:57:30Z</dcterms:created>
  <dcterms:modified xsi:type="dcterms:W3CDTF">2025-09-26T13:34:49Z</dcterms:modified>
</cp:coreProperties>
</file>